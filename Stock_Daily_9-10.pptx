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BKK</c:v>
                </c:pt>
              </c:strCache>
            </c:strRef>
          </c:tx>
          <c:spPr>
            <a:solidFill>
              <a:srgbClr val="C87A17"/>
            </a:solidFill>
          </c:spPr>
          <c:cat>
            <c:strRef>
              <c:f>Sheet1!$A$2:$A$3</c:f>
              <c:strCache>
                <c:ptCount val="2"/>
                <c:pt idx="0">
                  <c:v>20'RE</c:v>
                </c:pt>
                <c:pt idx="1">
                  <c:v>40'RH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LCH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Sheet1!$A$2:$A$3</c:f>
              <c:strCache>
                <c:ptCount val="2"/>
                <c:pt idx="0">
                  <c:v>20'RE</c:v>
                </c:pt>
                <c:pt idx="1">
                  <c:v>40'RH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</c:v>
                </c:pt>
                <c:pt idx="1">
                  <c:v>66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BKK</c:v>
                </c:pt>
              </c:strCache>
            </c:strRef>
          </c:tx>
          <c:spPr>
            <a:ln w="28575">
              <a:solidFill>
                <a:srgbClr val="C87A17"/>
              </a:solidFill>
            </a:ln>
          </c:spPr>
          <c:marker>
            <c:symbol val="circle"/>
            <c:spPr>
              <a:solidFill>
                <a:srgbClr val="C87A17"/>
              </a:solidFill>
              <a:ln>
                <a:solidFill>
                  <a:srgbClr val="C87A17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WK37
7 Sep-12 Sep</c:v>
                </c:pt>
                <c:pt idx="1">
                  <c:v>WK38
14 Sep-19 Sep</c:v>
                </c:pt>
                <c:pt idx="2">
                  <c:v>WK39
21 Sep-26 Sep</c:v>
                </c:pt>
                <c:pt idx="3">
                  <c:v>WK40
28 Sep-3 Oct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10</c:v>
                </c:pt>
                <c:pt idx="2">
                  <c:v>-15</c:v>
                </c:pt>
                <c:pt idx="3">
                  <c:v>-15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LCH</c:v>
                </c:pt>
              </c:strCache>
            </c:strRef>
          </c:tx>
          <c:spPr>
            <a:ln w="28575">
              <a:solidFill>
                <a:srgbClr val="0E7C86"/>
              </a:solidFill>
            </a:ln>
          </c:spPr>
          <c:marker>
            <c:symbol val="circle"/>
            <c:spPr>
              <a:solidFill>
                <a:srgbClr val="0E7C86"/>
              </a:solidFill>
              <a:ln>
                <a:solidFill>
                  <a:srgbClr val="0E7C86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WK37
7 Sep-12 Sep</c:v>
                </c:pt>
                <c:pt idx="1">
                  <c:v>WK38
14 Sep-19 Sep</c:v>
                </c:pt>
                <c:pt idx="2">
                  <c:v>WK39
21 Sep-26 Sep</c:v>
                </c:pt>
                <c:pt idx="3">
                  <c:v>WK40
28 Sep-3 Oct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61</c:v>
                </c:pt>
                <c:pt idx="1">
                  <c:v>29</c:v>
                </c:pt>
                <c:pt idx="2">
                  <c:v>27</c:v>
                </c:pt>
                <c:pt idx="3">
                  <c:v>27</c:v>
                </c:pt>
              </c:numCache>
            </c:numRef>
          </c:val>
          <c:smooth val="0"/>
        </c:ser>
        <c:dLbls>
          <c:numFmt formatCode="0;-0" sourceLinked="0"/>
          <c:txPr>
            <a:bodyPr/>
            <a:lstStyle/>
            <a:p>
              <a:pPr>
                <a:defRPr sz="11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100000"/>
            <a:ext cx="104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Stock Daily – Reefer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50000"/>
            <a:ext cx="10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7D2E0"/>
                </a:solidFill>
                <a:latin typeface="Calibri"/>
              </a:rPr>
              <a:t>Empty reefer stock vs outstanding bookings  ·  20'RE / 40'RH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75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FB1C6"/>
                </a:solidFill>
                <a:latin typeface="Calibri"/>
              </a:rPr>
              <a:t>Report date  10 Sep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4500000"/>
            <a:ext cx="220000" cy="220000"/>
          </a:xfrm>
          <a:prstGeom prst="roundRect">
            <a:avLst>
              <a:gd name="adj" fmla="val 6000"/>
            </a:avLst>
          </a:prstGeom>
          <a:solidFill>
            <a:srgbClr val="C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000" y="4470000"/>
            <a:ext cx="3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BKK depots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0000" y="4500000"/>
            <a:ext cx="220000" cy="2200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0000" y="4470000"/>
            <a:ext cx="3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LCH depots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2000" cy="76000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0000" y="90000"/>
            <a:ext cx="9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KPI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000" y="470000"/>
            <a:ext cx="1120000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7D2E0"/>
                </a:solidFill>
                <a:latin typeface="Calibri"/>
              </a:rPr>
              <a:t>Reefer empties on hand against bookings · 10 Sep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000" y="1050000"/>
            <a:ext cx="2760000" cy="185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000" y="1180000"/>
            <a:ext cx="246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6B7B"/>
                </a:solidFill>
                <a:latin typeface="Calibri"/>
              </a:rPr>
              <a:t>Total empty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000" y="1520000"/>
            <a:ext cx="246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C2340"/>
                </a:solidFill>
                <a:latin typeface="Calibri"/>
              </a:rPr>
              <a:t>137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000" y="2380000"/>
            <a:ext cx="246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B7B"/>
                </a:solidFill>
                <a:latin typeface="Calibri"/>
              </a:rPr>
              <a:t>20'RE + 40'RH, both zones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000" y="1050000"/>
            <a:ext cx="2760000" cy="185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0000" y="1180000"/>
            <a:ext cx="246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6B7B"/>
                </a:solidFill>
                <a:latin typeface="Calibri"/>
              </a:rPr>
              <a:t>Total pending pickup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0000" y="1520000"/>
            <a:ext cx="246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C22A2A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0000" y="2380000"/>
            <a:ext cx="246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B7B"/>
                </a:solidFill>
                <a:latin typeface="Calibri"/>
              </a:rPr>
              <a:t>bookings overdue (before today)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000" y="1050000"/>
            <a:ext cx="2760000" cy="185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0000" y="1180000"/>
            <a:ext cx="246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6B7B"/>
                </a:solidFill>
                <a:latin typeface="Calibri"/>
              </a:rPr>
              <a:t>Locations at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0000" y="1520000"/>
            <a:ext cx="246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C22A2A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0000" y="2380000"/>
            <a:ext cx="246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B7B"/>
                </a:solidFill>
                <a:latin typeface="Calibri"/>
              </a:rPr>
              <a:t>AV balance turns negative within 4 wks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0000" y="1050000"/>
            <a:ext cx="2760000" cy="185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0000" y="1180000"/>
            <a:ext cx="246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6B7B"/>
                </a:solidFill>
                <a:latin typeface="Calibri"/>
              </a:rPr>
              <a:t>Earliest shortage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0000" y="1520000"/>
            <a:ext cx="246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C22A2A"/>
                </a:solidFill>
                <a:latin typeface="Calibri"/>
              </a:rPr>
              <a:t>WK38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0000" y="2380000"/>
            <a:ext cx="246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B7B"/>
                </a:solidFill>
                <a:latin typeface="Calibri"/>
              </a:rPr>
              <a:t>14 Sep-19 Sep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000" y="3200000"/>
            <a:ext cx="6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340"/>
                </a:solidFill>
                <a:latin typeface="Calibri"/>
              </a:rPr>
              <a:t>Zone split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0000" y="3580000"/>
            <a:ext cx="1500000" cy="36000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0000" y="3620000"/>
            <a:ext cx="13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30000" y="3580000"/>
            <a:ext cx="3000000" cy="36000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0000" y="3620000"/>
            <a:ext cx="28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Empty stock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0000" y="3580000"/>
            <a:ext cx="3000000" cy="36000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0000" y="3620000"/>
            <a:ext cx="28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Pending pickup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30000" y="3580000"/>
            <a:ext cx="3200000" cy="36000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20000" y="3620000"/>
            <a:ext cx="30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AV bal. end of WK40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000" y="3940000"/>
            <a:ext cx="1500000" cy="36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000" y="3980000"/>
            <a:ext cx="13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A33"/>
                </a:solidFill>
                <a:latin typeface="Calibri"/>
              </a:rPr>
              <a:t>BKK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30000" y="3940000"/>
            <a:ext cx="3000000" cy="36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000" y="3980000"/>
            <a:ext cx="28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A33"/>
                </a:solidFill>
                <a:latin typeface="Calibri"/>
              </a:rPr>
              <a:t>64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0000" y="3940000"/>
            <a:ext cx="3000000" cy="36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0000" y="3980000"/>
            <a:ext cx="28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30000" y="3940000"/>
            <a:ext cx="3200000" cy="36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0000" y="3980000"/>
            <a:ext cx="30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22A2A"/>
                </a:solidFill>
                <a:latin typeface="Calibri"/>
              </a:rPr>
              <a:t>-15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0000" y="4300000"/>
            <a:ext cx="1500000" cy="3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0000" y="4340000"/>
            <a:ext cx="13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22A33"/>
                </a:solidFill>
                <a:latin typeface="Calibri"/>
              </a:rPr>
              <a:t>LCH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30000" y="4300000"/>
            <a:ext cx="3000000" cy="3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000" y="4340000"/>
            <a:ext cx="28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A33"/>
                </a:solidFill>
                <a:latin typeface="Calibri"/>
              </a:rPr>
              <a:t>73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0000" y="4300000"/>
            <a:ext cx="3000000" cy="3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0000" y="4340000"/>
            <a:ext cx="28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A33"/>
                </a:solidFill>
                <a:latin typeface="Calibri"/>
              </a:rPr>
              <a:t>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30000" y="4300000"/>
            <a:ext cx="3200000" cy="3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20000" y="4340000"/>
            <a:ext cx="305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22A33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2000" cy="76000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0000" y="90000"/>
            <a:ext cx="9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Empty Stock by Type – BKK vs LCH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000" y="470000"/>
            <a:ext cx="1120000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7D2E0"/>
                </a:solidFill>
                <a:latin typeface="Calibri"/>
              </a:rPr>
              <a:t>Reefer empties on hand · 10 Sep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00000" y="1050000"/>
          <a:ext cx="10400000" cy="51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2000" cy="76000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0000" y="90000"/>
            <a:ext cx="9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AV Balance Trend – Weekly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000" y="470000"/>
            <a:ext cx="1120000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7D2E0"/>
                </a:solidFill>
                <a:latin typeface="Calibri"/>
              </a:rPr>
              <a:t>Empty stock minus cumulative booking, by zone · 10 Sep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00000" y="1050000"/>
          <a:ext cx="10400000" cy="4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0000" y="5950000"/>
            <a:ext cx="10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Values below zero = not enough empties to cover that week's bookings.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2000" cy="76000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0000" y="90000"/>
            <a:ext cx="9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Locations to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000" y="470000"/>
            <a:ext cx="1120000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7D2E0"/>
                </a:solidFill>
                <a:latin typeface="Calibri"/>
              </a:rPr>
              <a:t>Where reefer AV balance turns negative in the 4-week window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000" y="1100000"/>
            <a:ext cx="11330000" cy="250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22225">
            <a:solidFill>
              <a:srgbClr val="C2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0000" y="1100000"/>
            <a:ext cx="90000" cy="2500000"/>
          </a:xfrm>
          <a:prstGeom prst="roundRect">
            <a:avLst>
              <a:gd name="adj" fmla="val 6000"/>
            </a:avLst>
          </a:prstGeom>
          <a:solidFill>
            <a:srgbClr val="C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1250000"/>
            <a:ext cx="4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C2340"/>
                </a:solidFill>
                <a:latin typeface="Calibri"/>
              </a:rPr>
              <a:t>BKK27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00" y="1660000"/>
            <a:ext cx="60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B"/>
                </a:solidFill>
                <a:latin typeface="Calibri"/>
              </a:rPr>
              <a:t>empty stock 64   ·   pending pickup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0000" y="1270000"/>
            <a:ext cx="2300000" cy="380000"/>
          </a:xfrm>
          <a:prstGeom prst="roundRect">
            <a:avLst>
              <a:gd name="adj" fmla="val 6000"/>
            </a:avLst>
          </a:prstGeom>
          <a:solidFill>
            <a:srgbClr val="C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50000" y="1295000"/>
            <a:ext cx="230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first short  WK38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00" y="2080000"/>
            <a:ext cx="13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20'RE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0000" y="2080000"/>
            <a:ext cx="8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8E5A"/>
                </a:solidFill>
                <a:latin typeface="Calibri"/>
              </a:rPr>
              <a:t>covered all 4 weeks (ends +14)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00" y="2720000"/>
            <a:ext cx="13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40'RH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000" y="2720000"/>
            <a:ext cx="92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8E5A"/>
                </a:solidFill>
                <a:latin typeface="Calibri"/>
              </a:rPr>
              <a:t>WK37 +29    </a:t>
            </a:r>
            <a:r>
              <a:rPr sz="1050" b="1">
                <a:solidFill>
                  <a:srgbClr val="C22A2A"/>
                </a:solidFill>
                <a:latin typeface="Calibri"/>
              </a:rPr>
              <a:t>WK38 -8    </a:t>
            </a:r>
            <a:r>
              <a:rPr sz="1050" b="0">
                <a:solidFill>
                  <a:srgbClr val="C22A2A"/>
                </a:solidFill>
                <a:latin typeface="Calibri"/>
              </a:rPr>
              <a:t>WK39 -29    </a:t>
            </a:r>
            <a:r>
              <a:rPr sz="1050" b="0">
                <a:solidFill>
                  <a:srgbClr val="C22A2A"/>
                </a:solidFill>
                <a:latin typeface="Calibri"/>
              </a:rPr>
              <a:t>WK40 -29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00" y="3020000"/>
            <a:ext cx="105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B7B"/>
                </a:solidFill>
                <a:latin typeface="Calibri"/>
              </a:rPr>
              <a:t>     shortfall builds to -29 by WK40 — needs ~29 more 40'RH at BKK27 before 14 Sep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00" y="3970000"/>
            <a:ext cx="11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8E5A"/>
                </a:solidFill>
                <a:latin typeface="Calibri"/>
              </a:rPr>
              <a:t>All other depots stay covered on 20'RE and 40'RH through WK40.  (LCH27)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2000" cy="76000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0000" y="90000"/>
            <a:ext cx="9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Location Detail – BKK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000" y="470000"/>
            <a:ext cx="1120000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7D2E0"/>
                </a:solidFill>
                <a:latin typeface="Calibri"/>
              </a:rPr>
              <a:t>Stock / Pending / AV balance per depot · 10 Sep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000" y="1050000"/>
            <a:ext cx="3643333" cy="230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0000" y="1050000"/>
            <a:ext cx="3643333" cy="70000"/>
          </a:xfrm>
          <a:prstGeom prst="roundRect">
            <a:avLst>
              <a:gd name="adj" fmla="val 6000"/>
            </a:avLst>
          </a:prstGeom>
          <a:solidFill>
            <a:srgbClr val="C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000" y="1200000"/>
            <a:ext cx="2743333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340"/>
                </a:solidFill>
                <a:latin typeface="Calibri"/>
              </a:rPr>
              <a:t>BKK25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3333" y="1200000"/>
            <a:ext cx="800000" cy="300000"/>
          </a:xfrm>
          <a:prstGeom prst="roundRect">
            <a:avLst>
              <a:gd name="adj" fmla="val 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3333" y="1205000"/>
            <a:ext cx="800000" cy="2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165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Empty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3333" y="165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00" y="198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Pending pickup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3333" y="198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00" y="231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AV bal. end WK40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3333" y="231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+0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000" y="2680000"/>
            <a:ext cx="3343333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8E5A"/>
                </a:solidFill>
                <a:latin typeface="Calibri"/>
              </a:rPr>
              <a:t>20'RE +0   </a:t>
            </a:r>
            <a:r>
              <a:rPr sz="1000" b="0">
                <a:solidFill>
                  <a:srgbClr val="1E8E5A"/>
                </a:solidFill>
                <a:latin typeface="Calibri"/>
              </a:rPr>
              <a:t>40'RH +0  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3333" y="1050000"/>
            <a:ext cx="3643333" cy="230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73333" y="1050000"/>
            <a:ext cx="3643333" cy="70000"/>
          </a:xfrm>
          <a:prstGeom prst="roundRect">
            <a:avLst>
              <a:gd name="adj" fmla="val 6000"/>
            </a:avLst>
          </a:prstGeom>
          <a:solidFill>
            <a:srgbClr val="C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3333" y="1200000"/>
            <a:ext cx="2743333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340"/>
                </a:solidFill>
                <a:latin typeface="Calibri"/>
              </a:rPr>
              <a:t>BKK01+BKK04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66666" y="1200000"/>
            <a:ext cx="800000" cy="300000"/>
          </a:xfrm>
          <a:prstGeom prst="roundRect">
            <a:avLst>
              <a:gd name="adj" fmla="val 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6666" y="1205000"/>
            <a:ext cx="800000" cy="2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333" y="165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Empty 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6666" y="165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333" y="198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Pending pickup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6666" y="198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333" y="231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AV bal. end WK40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6666" y="231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+0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333" y="2680000"/>
            <a:ext cx="3343333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8E5A"/>
                </a:solidFill>
                <a:latin typeface="Calibri"/>
              </a:rPr>
              <a:t>20'RE +0   </a:t>
            </a:r>
            <a:r>
              <a:rPr sz="1000" b="0">
                <a:solidFill>
                  <a:srgbClr val="1E8E5A"/>
                </a:solidFill>
                <a:latin typeface="Calibri"/>
              </a:rPr>
              <a:t>40'RH +0  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6666" y="1050000"/>
            <a:ext cx="3643333" cy="230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6666" y="1050000"/>
            <a:ext cx="3643333" cy="70000"/>
          </a:xfrm>
          <a:prstGeom prst="roundRect">
            <a:avLst>
              <a:gd name="adj" fmla="val 6000"/>
            </a:avLst>
          </a:prstGeom>
          <a:solidFill>
            <a:srgbClr val="C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666" y="1200000"/>
            <a:ext cx="2743333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340"/>
                </a:solidFill>
                <a:latin typeface="Calibri"/>
              </a:rPr>
              <a:t>BKK27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09999" y="1200000"/>
            <a:ext cx="800000" cy="300000"/>
          </a:xfrm>
          <a:prstGeom prst="roundRect">
            <a:avLst>
              <a:gd name="adj" fmla="val 6000"/>
            </a:avLst>
          </a:prstGeom>
          <a:solidFill>
            <a:srgbClr val="C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09999" y="1205000"/>
            <a:ext cx="800000" cy="2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666" y="165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Empty stock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09999" y="165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6666" y="198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Pending pickup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09999" y="198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666" y="231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AV bal. end WK40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9999" y="231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22A2A"/>
                </a:solidFill>
                <a:latin typeface="Calibri"/>
              </a:rPr>
              <a:t>-15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6666" y="2680000"/>
            <a:ext cx="3343333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8E5A"/>
                </a:solidFill>
                <a:latin typeface="Calibri"/>
              </a:rPr>
              <a:t>20'RE +14   </a:t>
            </a:r>
            <a:r>
              <a:rPr sz="1000" b="0">
                <a:solidFill>
                  <a:srgbClr val="C22A2A"/>
                </a:solidFill>
                <a:latin typeface="Calibri"/>
              </a:rPr>
              <a:t>40'RH -29  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0000" y="3530000"/>
            <a:ext cx="3643333" cy="230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30000" y="3530000"/>
            <a:ext cx="3643333" cy="70000"/>
          </a:xfrm>
          <a:prstGeom prst="roundRect">
            <a:avLst>
              <a:gd name="adj" fmla="val 6000"/>
            </a:avLst>
          </a:prstGeom>
          <a:solidFill>
            <a:srgbClr val="C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0000" y="3680000"/>
            <a:ext cx="2743333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340"/>
                </a:solidFill>
                <a:latin typeface="Calibri"/>
              </a:rPr>
              <a:t>BKK02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23333" y="3680000"/>
            <a:ext cx="800000" cy="300000"/>
          </a:xfrm>
          <a:prstGeom prst="roundRect">
            <a:avLst>
              <a:gd name="adj" fmla="val 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23333" y="3685000"/>
            <a:ext cx="800000" cy="2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0000" y="413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Empty stock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23333" y="413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0000" y="446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Pending pickup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23333" y="446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0000" y="479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AV bal. end WK40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23333" y="479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+0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0000" y="5160000"/>
            <a:ext cx="3343333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8E5A"/>
                </a:solidFill>
                <a:latin typeface="Calibri"/>
              </a:rPr>
              <a:t>20'RE +0   </a:t>
            </a:r>
            <a:r>
              <a:rPr sz="1000" b="0">
                <a:solidFill>
                  <a:srgbClr val="1E8E5A"/>
                </a:solidFill>
                <a:latin typeface="Calibri"/>
              </a:rPr>
              <a:t>40'RH +0   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73333" y="3530000"/>
            <a:ext cx="3643333" cy="230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273333" y="3530000"/>
            <a:ext cx="3643333" cy="70000"/>
          </a:xfrm>
          <a:prstGeom prst="roundRect">
            <a:avLst>
              <a:gd name="adj" fmla="val 6000"/>
            </a:avLst>
          </a:prstGeom>
          <a:solidFill>
            <a:srgbClr val="C8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23333" y="3680000"/>
            <a:ext cx="2743333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340"/>
                </a:solidFill>
                <a:latin typeface="Calibri"/>
              </a:rPr>
              <a:t>LCH55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66666" y="3680000"/>
            <a:ext cx="800000" cy="300000"/>
          </a:xfrm>
          <a:prstGeom prst="roundRect">
            <a:avLst>
              <a:gd name="adj" fmla="val 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66666" y="3685000"/>
            <a:ext cx="800000" cy="2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43333" y="413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Empty stock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66666" y="413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43333" y="446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Pending pickup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66666" y="446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43333" y="479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AV bal. end WK40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66666" y="479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+0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43333" y="5160000"/>
            <a:ext cx="3343333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8E5A"/>
                </a:solidFill>
                <a:latin typeface="Calibri"/>
              </a:rPr>
              <a:t>20'RE +0   </a:t>
            </a:r>
            <a:r>
              <a:rPr sz="1000" b="0">
                <a:solidFill>
                  <a:srgbClr val="1E8E5A"/>
                </a:solidFill>
                <a:latin typeface="Calibri"/>
              </a:rPr>
              <a:t>40'RH +0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2000" cy="76000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0000" y="90000"/>
            <a:ext cx="9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Location Detail – LCH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000" y="470000"/>
            <a:ext cx="1120000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7D2E0"/>
                </a:solidFill>
                <a:latin typeface="Calibri"/>
              </a:rPr>
              <a:t>Stock / Pending / AV balance per depot · 10 Sep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000" y="1050000"/>
            <a:ext cx="3643333" cy="230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0000" y="1050000"/>
            <a:ext cx="3643333" cy="700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000" y="1200000"/>
            <a:ext cx="2743333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340"/>
                </a:solidFill>
                <a:latin typeface="Calibri"/>
              </a:rPr>
              <a:t>LCH27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3333" y="1200000"/>
            <a:ext cx="800000" cy="300000"/>
          </a:xfrm>
          <a:prstGeom prst="roundRect">
            <a:avLst>
              <a:gd name="adj" fmla="val 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3333" y="1205000"/>
            <a:ext cx="800000" cy="2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165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Empty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3333" y="165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00" y="198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Pending pickup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3333" y="198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00" y="231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AV bal. end WK40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3333" y="231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+27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000" y="2680000"/>
            <a:ext cx="3343333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8E5A"/>
                </a:solidFill>
                <a:latin typeface="Calibri"/>
              </a:rPr>
              <a:t>20'RE +4   </a:t>
            </a:r>
            <a:r>
              <a:rPr sz="1000" b="0">
                <a:solidFill>
                  <a:srgbClr val="1E8E5A"/>
                </a:solidFill>
                <a:latin typeface="Calibri"/>
              </a:rPr>
              <a:t>40'RH +23  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3333" y="1050000"/>
            <a:ext cx="3643333" cy="230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73333" y="1050000"/>
            <a:ext cx="3643333" cy="700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3333" y="1200000"/>
            <a:ext cx="2743333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340"/>
                </a:solidFill>
                <a:latin typeface="Calibri"/>
              </a:rPr>
              <a:t>LCH28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66666" y="1200000"/>
            <a:ext cx="800000" cy="300000"/>
          </a:xfrm>
          <a:prstGeom prst="roundRect">
            <a:avLst>
              <a:gd name="adj" fmla="val 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6666" y="1205000"/>
            <a:ext cx="800000" cy="2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333" y="165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Empty 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6666" y="165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333" y="198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Pending pickup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6666" y="198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333" y="231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AV bal. end WK40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6666" y="231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+0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333" y="2680000"/>
            <a:ext cx="3343333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8E5A"/>
                </a:solidFill>
                <a:latin typeface="Calibri"/>
              </a:rPr>
              <a:t>20'RE +0   </a:t>
            </a:r>
            <a:r>
              <a:rPr sz="1000" b="0">
                <a:solidFill>
                  <a:srgbClr val="1E8E5A"/>
                </a:solidFill>
                <a:latin typeface="Calibri"/>
              </a:rPr>
              <a:t>40'RH +0  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6666" y="1050000"/>
            <a:ext cx="3643333" cy="23000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16666" y="1050000"/>
            <a:ext cx="3643333" cy="700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666" y="1200000"/>
            <a:ext cx="2743333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340"/>
                </a:solidFill>
                <a:latin typeface="Calibri"/>
              </a:rPr>
              <a:t>LCHY5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09999" y="1200000"/>
            <a:ext cx="800000" cy="300000"/>
          </a:xfrm>
          <a:prstGeom prst="roundRect">
            <a:avLst>
              <a:gd name="adj" fmla="val 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09999" y="1205000"/>
            <a:ext cx="800000" cy="2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666" y="165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Empty stock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09999" y="165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6666" y="198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Pending pickup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09999" y="198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666" y="2310000"/>
            <a:ext cx="2243333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B"/>
                </a:solidFill>
                <a:latin typeface="Calibri"/>
              </a:rPr>
              <a:t>AV bal. end WK40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9999" y="2310000"/>
            <a:ext cx="11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22A33"/>
                </a:solidFill>
                <a:latin typeface="Calibri"/>
              </a:rPr>
              <a:t>+0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6666" y="2680000"/>
            <a:ext cx="3343333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E8E5A"/>
                </a:solidFill>
                <a:latin typeface="Calibri"/>
              </a:rPr>
              <a:t>20'RE +0   </a:t>
            </a:r>
            <a:r>
              <a:rPr sz="1000" b="0">
                <a:solidFill>
                  <a:srgbClr val="1E8E5A"/>
                </a:solidFill>
                <a:latin typeface="Calibri"/>
              </a:rPr>
              <a:t>40'RH +0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2000" cy="76000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0000" y="90000"/>
            <a:ext cx="9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000" y="470000"/>
            <a:ext cx="11200000" cy="2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7D2E0"/>
                </a:solidFill>
                <a:latin typeface="Calibri"/>
              </a:rPr>
              <a:t>Auto-generated from today's stock and booking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000" y="1305000"/>
            <a:ext cx="200000" cy="200000"/>
          </a:xfrm>
          <a:prstGeom prst="roundRect">
            <a:avLst>
              <a:gd name="adj" fmla="val 6000"/>
            </a:avLst>
          </a:prstGeom>
          <a:solidFill>
            <a:srgbClr val="C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000" y="1220000"/>
            <a:ext cx="106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22A33"/>
                </a:solidFill>
                <a:latin typeface="Calibri"/>
              </a:rPr>
              <a:t>BKK27 – 40'RH: goes short from WK38 (14 Sep-19 Sep), reaching -29 by WK40. Reposition ≥ 29 × 40'RH into BKK27 before 14 Sep.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000" y="2225000"/>
            <a:ext cx="200000" cy="200000"/>
          </a:xfrm>
          <a:prstGeom prst="roundRect">
            <a:avLst>
              <a:gd name="adj" fmla="val 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000" y="2140000"/>
            <a:ext cx="106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22A33"/>
                </a:solidFill>
                <a:latin typeface="Calibri"/>
              </a:rPr>
              <a:t>Healthy: LCH27 – positive AV balance every week.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000" y="2845000"/>
            <a:ext cx="200000" cy="20000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000" y="2760000"/>
            <a:ext cx="106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22A33"/>
                </a:solidFill>
                <a:latin typeface="Calibri"/>
              </a:rPr>
              <a:t>Reefer pipeline: 118 units of 20'RE / 40'RH booked over the next 4 weeks, plus 7 already overdue — against 137 empties on hand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